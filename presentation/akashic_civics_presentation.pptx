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Akashic Civics: Open-Source Tools for Criminal Justice Disparity Analysis &amp; Civic Democracy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Akashic Civics Project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Civic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Local criminal justice decisions shape lives -- but are rarely measured</a:t>
            </a:r>
          </a:p>
          <a:p>
            <a:pPr>
              <a:defRPr sz="1800"/>
            </a:pPr>
            <a:r>
              <a:t>Arrests, charges, convictions, and sentences happen at the local level</a:t>
            </a:r>
          </a:p>
          <a:p>
            <a:pPr>
              <a:defRPr sz="1800"/>
            </a:pPr>
            <a:r>
              <a:t>District attorneys, sheriffs, and judges wield enormous discretion</a:t>
            </a:r>
          </a:p>
          <a:p>
            <a:pPr>
              <a:defRPr sz="1800"/>
            </a:pPr>
            <a:r>
              <a:t>Disparity by race, income, and neighborhood is well-documented nationally -- but local data is fragmented</a:t>
            </a:r>
          </a:p>
          <a:p>
            <a:pPr>
              <a:defRPr sz="1800"/>
            </a:pPr>
            <a:r>
              <a:t>Without measurable baselines, communities cannot advocate for change or evaluate reform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Akashic Civics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Ingest local case data from any jurisdiction</a:t>
            </a:r>
          </a:p>
          <a:p>
            <a:pPr>
              <a:defRPr sz="1800"/>
            </a:pPr>
            <a:r>
              <a:t>Run statistical tests (Z-tests, regression, causal inference)</a:t>
            </a:r>
          </a:p>
          <a:p>
            <a:pPr>
              <a:defRPr sz="1800"/>
            </a:pPr>
            <a:r>
              <a:t>Track disparities over time with streaming analysis</a:t>
            </a:r>
          </a:p>
          <a:p>
            <a:pPr>
              <a:defRPr sz="1800"/>
            </a:pPr>
            <a:r>
              <a:t>Export reports for advocacy, journalism, and policy</a:t>
            </a:r>
          </a:p>
          <a:p>
            <a:pPr>
              <a:defRPr sz="1800"/>
            </a:pPr>
            <a:r>
              <a:t>Available in TypeScript, Python, and 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Enhancement Roadmap (E16-E25)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E16: Data integration (FBI UCR, BJS)</a:t>
            </a:r>
          </a:p>
          <a:p>
            <a:pPr>
              <a:defRPr sz="1800"/>
            </a:pPr>
            <a:r>
              <a:t>E17: Advanced analytics (doubly-robust, Bayesian)</a:t>
            </a:r>
          </a:p>
          <a:p>
            <a:pPr>
              <a:defRPr sz="1800"/>
            </a:pPr>
            <a:r>
              <a:t>E18: Interactive CLI analysis wizard</a:t>
            </a:r>
          </a:p>
          <a:p>
            <a:pPr>
              <a:defRPr sz="1800"/>
            </a:pPr>
            <a:r>
              <a:t>E19: Jupyter Notebook interface</a:t>
            </a:r>
          </a:p>
          <a:p>
            <a:pPr>
              <a:defRPr sz="1800"/>
            </a:pPr>
            <a:r>
              <a:t>E20: Publishing/release pipeline</a:t>
            </a:r>
          </a:p>
          <a:p>
            <a:pPr>
              <a:defRPr sz="1800"/>
            </a:pPr>
            <a:r>
              <a:t>E21: Extension system (plugins)</a:t>
            </a:r>
          </a:p>
          <a:p>
            <a:pPr>
              <a:defRPr sz="1800"/>
            </a:pPr>
            <a:r>
              <a:t>E22: R package (regression, causal, comparison)</a:t>
            </a:r>
          </a:p>
          <a:p>
            <a:pPr>
              <a:defRPr sz="1800"/>
            </a:pPr>
            <a:r>
              <a:t>E23: Streaming analysis with disparity alerts</a:t>
            </a:r>
          </a:p>
          <a:p>
            <a:pPr>
              <a:defRPr sz="1800"/>
            </a:pPr>
            <a:r>
              <a:t>E24: Web dashboard UI + Express API</a:t>
            </a:r>
          </a:p>
          <a:p>
            <a:pPr>
              <a:defRPr sz="1800"/>
            </a:pPr>
            <a:r>
              <a:t>E25: Python statistical depth (NumPy/SciPy)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Integration (E16)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Pluggable DataSource interface</a:t>
            </a:r>
          </a:p>
          <a:p>
            <a:pPr>
              <a:defRPr sz="1800"/>
            </a:pPr>
            <a:r>
              <a:t>FBIUCRSource and BJSSource implementations</a:t>
            </a:r>
          </a:p>
          <a:p>
            <a:pPr>
              <a:defRPr sz="1800"/>
            </a:pPr>
            <a:r>
              <a:t>DataPipeline normalizes heterogeneous inputs into a common schema</a:t>
            </a:r>
          </a:p>
          <a:p>
            <a:pPr>
              <a:defRPr sz="1800"/>
            </a:pPr>
            <a:r>
              <a:t>Implementation choice: We normalized upstream rather than asking users to clean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Advanced Analytics (E17)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DoublyRobustEstimator -- combines propensity scores with outcome regression</a:t>
            </a:r>
          </a:p>
          <a:p>
            <a:pPr>
              <a:defRPr sz="1800"/>
            </a:pPr>
            <a:r>
              <a:t>BayesianHierarchicalModel -- partial pooling across jurisdictions</a:t>
            </a:r>
          </a:p>
          <a:p>
            <a:pPr>
              <a:defRPr sz="1800"/>
            </a:pPr>
            <a:r>
              <a:t>Implementation choice: Doubly-robust methods protect against model misspecification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Interactive CLI Wizard (E18)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5-step guided analysis for non-programmers</a:t>
            </a:r>
          </a:p>
          <a:p>
            <a:pPr>
              <a:defRPr sz="1800"/>
            </a:pPr>
            <a:r>
              <a:t>Select data source, choose jurisdiction, select analysis type, configure parameters, execute and export</a:t>
            </a:r>
          </a:p>
          <a:p>
            <a:pPr>
              <a:defRPr sz="1800"/>
            </a:pPr>
            <a:r>
              <a:t>Implementation choice: A wizard rather than raw commands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Jupyter + Python (E19 &amp; E25)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IPython magics and NotebookGenerator with comparison templates</a:t>
            </a:r>
          </a:p>
          <a:p>
            <a:pPr>
              <a:defRPr sz="1800"/>
            </a:pPr>
            <a:r>
              <a:t>stats.py: descriptive stats, Z-tests, OLS, logistic regression, doubly-robust, disconfirmation, jurisdiction comparison</a:t>
            </a:r>
          </a:p>
          <a:p>
            <a:pPr>
              <a:defRPr sz="1800"/>
            </a:pPr>
            <a:r>
              <a:t>Implementation choice: Python wrappers try in-process NumPy/SciPy first, then fall back to CLI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 Package (E22)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CRAN-style package with descriptive stats, Z-tests, OLS/logistic regression</a:t>
            </a:r>
          </a:p>
          <a:p>
            <a:pPr>
              <a:defRPr sz="1800"/>
            </a:pPr>
            <a:r>
              <a:t>Doubly-robust causal estimation, disconfirmation battery, multi-jurisdiction comparison</a:t>
            </a:r>
          </a:p>
          <a:p>
            <a:pPr>
              <a:defRPr sz="1800"/>
            </a:pPr>
            <a:r>
              <a:t>Implementation choice: R is the lingua franca of public policy and criminology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Streaming Analysis (E23)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StreamProcessor reads JSONL in chunks, never loads full dataset</a:t>
            </a:r>
          </a:p>
          <a:p>
            <a:pPr>
              <a:defRPr sz="1800"/>
            </a:pPr>
            <a:r>
              <a:t>Incremental group statistics + disparity alerts</a:t>
            </a:r>
          </a:p>
          <a:p>
            <a:pPr>
              <a:defRPr sz="1800"/>
            </a:pPr>
            <a:r>
              <a:t>Implementation choice: Bounded chunks + persistent manifest for resume and scalability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+ API (E24)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Express.js server with /api/health, /api/viz-specs, /api/analyze endpoints</a:t>
            </a:r>
          </a:p>
          <a:p>
            <a:pPr>
              <a:defRPr sz="1800"/>
            </a:pPr>
            <a:r>
              <a:t>Static SPA serving disparity charts and KPI cards</a:t>
            </a:r>
          </a:p>
          <a:p>
            <a:pPr>
              <a:defRPr sz="1800"/>
            </a:pPr>
            <a:r>
              <a:t>Implementation choice: Thin API layer over TypeScript statistical core, no duplicated logic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Extension System + Publishing (E21 &amp; E20)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ExtensionRegistry discovers DataSource, Analysis, Export, Transformation plugins</a:t>
            </a:r>
          </a:p>
          <a:p>
            <a:pPr>
              <a:defRPr sz="1800"/>
            </a:pPr>
            <a:r>
              <a:t>publish_pipeline.js: 11-step release cycle from lint to npm/PyPI/R</a:t>
            </a:r>
          </a:p>
          <a:p>
            <a:pPr>
              <a:defRPr sz="1800"/>
            </a:pPr>
            <a:r>
              <a:t>Implementation choice: Plugins let communities add their own data sources without forking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Multi-language by design -- meet users where they are (TS, Python, R)</a:t>
            </a:r>
          </a:p>
          <a:p>
            <a:pPr>
              <a:defRPr sz="1800"/>
            </a:pPr>
            <a:r>
              <a:t>Statistical rigor first -- no headline numbers without confidence intervals and effect sizes</a:t>
            </a:r>
          </a:p>
          <a:p>
            <a:pPr>
              <a:defRPr sz="1800"/>
            </a:pPr>
            <a:r>
              <a:t>Local data, local control -- data never leaves the user's machine unless they choose to share it</a:t>
            </a:r>
          </a:p>
          <a:p>
            <a:pPr>
              <a:defRPr sz="1800"/>
            </a:pPr>
            <a:r>
              <a:t>Composable, not monolithic -- use the dashboard, CLI, or just the R package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Doubly-Robust? Why Bayesian?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Simple rate comparisons -&gt; confounded by case mix</a:t>
            </a:r>
          </a:p>
          <a:p>
            <a:pPr>
              <a:defRPr sz="1800"/>
            </a:pPr>
            <a:r>
              <a:t>Doubly-robust -&gt; consistent if either propensity or outcome model is correct</a:t>
            </a:r>
          </a:p>
          <a:p>
            <a:pPr>
              <a:defRPr sz="1800"/>
            </a:pPr>
            <a:r>
              <a:t>Bayesian hierarchical -&gt; small jurisdictions get stable estimates through partial pooling</a:t>
            </a:r>
          </a:p>
          <a:p>
            <a:pPr>
              <a:defRPr sz="1800"/>
            </a:pPr>
            <a:r>
              <a:t>Why it matters for equity: A tiny rural county shouldn't get same weight as a city with 50,000 cases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Stream, Why Alert?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Batch analysis answers 'what happened?'</a:t>
            </a:r>
          </a:p>
          <a:p>
            <a:pPr>
              <a:defRPr sz="1800"/>
            </a:pPr>
            <a:r>
              <a:t>Streaming answers 'is it happening right now?'</a:t>
            </a:r>
          </a:p>
          <a:p>
            <a:pPr>
              <a:defRPr sz="1800"/>
            </a:pPr>
            <a:r>
              <a:t>Alert thresholds -&gt; early warning for advocates and oversight bodies</a:t>
            </a:r>
          </a:p>
          <a:p>
            <a:pPr>
              <a:defRPr sz="1800"/>
            </a:pPr>
            <a:r>
              <a:t>Different between studying injustice and interrupting 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Civic Impact -- Decision Points to Local Leaders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Charging -&gt; District Attorney measures conviction rate by demographic</a:t>
            </a:r>
          </a:p>
          <a:p>
            <a:pPr>
              <a:defRPr sz="1800"/>
            </a:pPr>
            <a:r>
              <a:t>Bail / Pretrial -&gt; Judge measures pretrial detention disparity</a:t>
            </a:r>
          </a:p>
          <a:p>
            <a:pPr>
              <a:defRPr sz="1800"/>
            </a:pPr>
            <a:r>
              <a:t>Sentencing -&gt; Judge measures sentence length disparity</a:t>
            </a:r>
          </a:p>
          <a:p>
            <a:pPr>
              <a:defRPr sz="1800"/>
            </a:pPr>
            <a:r>
              <a:t>Diversion -&gt; Prosecutor/Court measures disposition flow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Concrete Scenario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Mid-sized county, 12,000 cases/year</a:t>
            </a:r>
          </a:p>
          <a:p>
            <a:pPr>
              <a:defRPr sz="1800"/>
            </a:pPr>
            <a:r>
              <a:t>Community loads 3 years of case data into Akashic Civics</a:t>
            </a:r>
          </a:p>
          <a:p>
            <a:pPr>
              <a:defRPr sz="1800"/>
            </a:pPr>
            <a:r>
              <a:t>Doubly-robust: Black defendants convicted at 1.4x rate of White defendants (p &lt; 0.01)</a:t>
            </a:r>
          </a:p>
          <a:p>
            <a:pPr>
              <a:defRPr sz="1800"/>
            </a:pPr>
            <a:r>
              <a:t>Streaming alert: disparity ratio rose from 1.2x to 1.6x after new DA took office</a:t>
            </a:r>
          </a:p>
          <a:p>
            <a:pPr>
              <a:defRPr sz="1800"/>
            </a:pPr>
            <a:r>
              <a:t>Community presents findings at hearing -&gt; DA adopts new charging guidelines</a:t>
            </a:r>
          </a:p>
          <a:p>
            <a:pPr>
              <a:defRPr sz="1800"/>
            </a:pPr>
            <a:r>
              <a:t>Next quarter: disparity drops to 1.1x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Promoting Democracy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Transparency: Disparity metrics are no longer locked in prosecutors' spreadsheets</a:t>
            </a:r>
          </a:p>
          <a:p>
            <a:pPr>
              <a:defRPr sz="1800"/>
            </a:pPr>
            <a:r>
              <a:t>Participation: Community groups can analyze the same data as officials</a:t>
            </a:r>
          </a:p>
          <a:p>
            <a:pPr>
              <a:defRPr sz="1800"/>
            </a:pPr>
            <a:r>
              <a:t>Accountability: Elected leaders can be evaluated on measurable outcomes</a:t>
            </a:r>
          </a:p>
          <a:p>
            <a:pPr>
              <a:defRPr sz="1800"/>
            </a:pPr>
            <a:r>
              <a:t>Reform evaluation: Did the new policy actually reduce disparity? We can tell.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Get Involved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Install: npm install akashic-civics OR pip install akashic-civics-py OR R CMD INSTALL</a:t>
            </a:r>
          </a:p>
          <a:p>
            <a:pPr>
              <a:defRPr sz="1800"/>
            </a:pPr>
            <a:r>
              <a:t>Run the wizard: akashic wizard</a:t>
            </a:r>
          </a:p>
          <a:p>
            <a:pPr>
              <a:defRPr sz="1800"/>
            </a:pPr>
            <a:r>
              <a:t>Launch the dashboard: akashic dashboard</a:t>
            </a:r>
          </a:p>
          <a:p>
            <a:pPr>
              <a:defRPr sz="1800"/>
            </a:pPr>
            <a:r>
              <a:t>Contribute: extensions, data sources, visualizations, documentation</a:t>
            </a:r>
          </a:p>
          <a:p>
            <a:pPr>
              <a:defRPr sz="1800"/>
            </a:pPr>
            <a:r>
              <a:t>GitHub: github.com/elijah/akashic-civics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 &amp; Discussion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How could your community use disparity data?</a:t>
            </a:r>
          </a:p>
          <a:p>
            <a:pPr>
              <a:defRPr sz="1800"/>
            </a:pPr>
            <a:r>
              <a:t>What local decisions most need measurement?</a:t>
            </a:r>
          </a:p>
          <a:p>
            <a:pPr>
              <a:defRPr sz="1800"/>
            </a:pPr>
            <a:r>
              <a:t>What data sources should we integrate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